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8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7" r:id="rId11"/>
    <p:sldId id="268" r:id="rId12"/>
    <p:sldId id="275" r:id="rId13"/>
    <p:sldId id="276" r:id="rId14"/>
    <p:sldId id="269" r:id="rId15"/>
    <p:sldId id="270" r:id="rId16"/>
    <p:sldId id="271" r:id="rId17"/>
    <p:sldId id="264" r:id="rId18"/>
    <p:sldId id="272" r:id="rId19"/>
    <p:sldId id="273" r:id="rId20"/>
    <p:sldId id="274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9" d="100"/>
          <a:sy n="69" d="100"/>
        </p:scale>
        <p:origin x="12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43491" y="796631"/>
            <a:ext cx="6251304" cy="2700706"/>
          </a:xfrm>
        </p:spPr>
        <p:txBody>
          <a:bodyPr bIns="0"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43491" y="3497337"/>
            <a:ext cx="6251304" cy="1011489"/>
          </a:xfrm>
        </p:spPr>
        <p:txBody>
          <a:bodyPr tIns="91440" bIns="91440">
            <a:normAutofit/>
          </a:bodyPr>
          <a:lstStyle>
            <a:lvl1pPr marL="0" indent="0" algn="ctr">
              <a:buNone/>
              <a:defRPr sz="1600" b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43490" y="329308"/>
            <a:ext cx="3719283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77760" y="798973"/>
            <a:ext cx="802005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07999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80702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2" y="1756130"/>
            <a:ext cx="6251302" cy="1952270"/>
          </a:xfrm>
        </p:spPr>
        <p:txBody>
          <a:bodyPr anchor="b">
            <a:normAutofit/>
          </a:bodyPr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34318" y="3708400"/>
            <a:ext cx="6251302" cy="1110725"/>
          </a:xfrm>
        </p:spPr>
        <p:txBody>
          <a:bodyPr tIns="91440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815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251303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1" y="2013936"/>
            <a:ext cx="2965632" cy="3437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9162" y="2013936"/>
            <a:ext cx="2965424" cy="34375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9012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251303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2965631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2965631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29270" y="2023004"/>
            <a:ext cx="2965523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29270" y="2821491"/>
            <a:ext cx="2965523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37995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6529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3877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406519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506719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1501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9440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4996501" y="482171"/>
            <a:ext cx="3511387" cy="5149101"/>
            <a:chOff x="4996501" y="482171"/>
            <a:chExt cx="3511387" cy="5149101"/>
          </a:xfrm>
        </p:grpSpPr>
        <p:sp>
          <p:nvSpPr>
            <p:cNvPr id="14" name="Rectangle 13"/>
            <p:cNvSpPr/>
            <p:nvPr/>
          </p:nvSpPr>
          <p:spPr>
            <a:xfrm>
              <a:off x="4996501" y="482171"/>
              <a:ext cx="3511387" cy="5149101"/>
            </a:xfrm>
            <a:prstGeom prst="rect">
              <a:avLst/>
            </a:prstGeom>
            <a:blipFill dpi="0" rotWithShape="1">
              <a:blip r:embed="rId2">
                <a:alphaModFix amt="30000"/>
              </a:blip>
              <a:srcRect/>
              <a:tile tx="0" ty="0" sx="100000" sy="100000" flip="none" algn="ctr"/>
            </a:blip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 extrusionH="76200" contourW="12700" prstMaterial="matte">
              <a:bevelT w="152400" h="50800" prst="softRound"/>
              <a:extrusionClr>
                <a:schemeClr val="tx2"/>
              </a:extrusionClr>
              <a:contourClr>
                <a:schemeClr val="bg2"/>
              </a:contourClr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5312152" y="812506"/>
              <a:ext cx="2883013" cy="4479361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38100" cmpd="sng">
              <a:solidFill>
                <a:schemeClr val="tx2">
                  <a:lumMod val="25000"/>
                </a:schemeClr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9" y="1129513"/>
            <a:ext cx="3080490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50000"/>
              <a:lumOff val="50000"/>
              <a:alpha val="80000"/>
            </a:schemeClr>
          </a:solidFill>
          <a:ln w="9525" cap="sq">
            <a:noFill/>
            <a:miter lim="800000"/>
          </a:ln>
          <a:effectLst/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 dirty="0"/>
            </a:lvl1pPr>
          </a:lstStyle>
          <a:p>
            <a:pPr lvl="0" algn="ctr" defTabSz="914400">
              <a:spcBef>
                <a:spcPts val="1800"/>
              </a:spcBef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076077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082905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5/30/2025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082083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8698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2442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92373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2" y="798974"/>
            <a:ext cx="4985762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1091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3622291"/>
            <a:ext cx="9144000" cy="251227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>
                  <a:alpha val="80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69" b="-2769"/>
          <a:stretch/>
        </p:blipFill>
        <p:spPr>
          <a:xfrm>
            <a:off x="0" y="6135624"/>
            <a:ext cx="9144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251303" cy="10492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25130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2650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3719283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2" name="Straight Connector 11"/>
          <p:cNvCxnSpPr/>
          <p:nvPr/>
        </p:nvCxnSpPr>
        <p:spPr>
          <a:xfrm>
            <a:off x="0" y="6144768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032294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85" r:id="rId1"/>
    <p:sldLayoutId id="2147483786" r:id="rId2"/>
    <p:sldLayoutId id="2147483787" r:id="rId3"/>
    <p:sldLayoutId id="2147483788" r:id="rId4"/>
    <p:sldLayoutId id="2147483789" r:id="rId5"/>
    <p:sldLayoutId id="2147483790" r:id="rId6"/>
    <p:sldLayoutId id="2147483791" r:id="rId7"/>
    <p:sldLayoutId id="2147483792" r:id="rId8"/>
    <p:sldLayoutId id="2147483793" r:id="rId9"/>
    <p:sldLayoutId id="2147483794" r:id="rId10"/>
    <p:sldLayoutId id="2147483795" r:id="rId11"/>
  </p:sldLayoutIdLst>
  <p:txStyles>
    <p:titleStyle>
      <a:lvl1pPr algn="ctr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457090"/>
            <a:ext cx="9236364" cy="1722801"/>
          </a:xfrm>
        </p:spPr>
        <p:txBody>
          <a:bodyPr>
            <a:normAutofit/>
          </a:bodyPr>
          <a:lstStyle/>
          <a:p>
            <a:r>
              <a:rPr sz="4400" dirty="0">
                <a:latin typeface="ui-sans-serif"/>
              </a:rPr>
              <a:t>Advanced</a:t>
            </a:r>
            <a:r>
              <a:rPr lang="en-US" sz="4400" dirty="0">
                <a:latin typeface="ui-sans-serif"/>
              </a:rPr>
              <a:t> </a:t>
            </a:r>
            <a:r>
              <a:rPr sz="4400" dirty="0">
                <a:latin typeface="ui-sans-serif"/>
              </a:rPr>
              <a:t>SQL – IMDB Dataset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92530" y="3025128"/>
            <a:ext cx="6251304" cy="1011489"/>
          </a:xfrm>
        </p:spPr>
        <p:txBody>
          <a:bodyPr>
            <a:noAutofit/>
          </a:bodyPr>
          <a:lstStyle/>
          <a:p>
            <a:r>
              <a:rPr lang="en-US" sz="4400" dirty="0">
                <a:latin typeface="ui-sans-serif"/>
              </a:rPr>
              <a:t>Gowthaman.s</a:t>
            </a:r>
          </a:p>
          <a:p>
            <a:r>
              <a:rPr lang="en-US" sz="4400" dirty="0">
                <a:latin typeface="ui-sans-serif"/>
              </a:rPr>
              <a:t>DADS-March-2025</a:t>
            </a:r>
          </a:p>
          <a:p>
            <a:r>
              <a:rPr lang="en-US" sz="4400" dirty="0">
                <a:latin typeface="ui-sans-serif"/>
              </a:rPr>
              <a:t>20-05-2025 </a:t>
            </a:r>
            <a:endParaRPr sz="4400" dirty="0">
              <a:latin typeface="ui-sans-serif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0" y="279902"/>
            <a:ext cx="6251303" cy="1049235"/>
          </a:xfrm>
        </p:spPr>
        <p:txBody>
          <a:bodyPr/>
          <a:lstStyle/>
          <a:p>
            <a:r>
              <a:rPr dirty="0">
                <a:latin typeface="ui-sans-serif"/>
              </a:rPr>
              <a:t>Introduction to 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3501" y="1329137"/>
            <a:ext cx="6251303" cy="3450613"/>
          </a:xfrm>
        </p:spPr>
        <p:txBody>
          <a:bodyPr>
            <a:noAutofit/>
          </a:bodyPr>
          <a:lstStyle/>
          <a:p>
            <a:r>
              <a:rPr sz="2400" dirty="0">
                <a:latin typeface="ui-sans-serif"/>
              </a:rPr>
              <a:t>Dataset is a simplified version of IMDb containing:</a:t>
            </a:r>
          </a:p>
          <a:p>
            <a:r>
              <a:rPr sz="2400" dirty="0">
                <a:latin typeface="ui-sans-serif"/>
              </a:rPr>
              <a:t>• Movie details (title, year, duration, country, languages, production company)</a:t>
            </a:r>
          </a:p>
          <a:p>
            <a:r>
              <a:rPr sz="2400" dirty="0">
                <a:latin typeface="ui-sans-serif"/>
              </a:rPr>
              <a:t>• Genres, Ratings, Director Mapping</a:t>
            </a:r>
          </a:p>
          <a:p>
            <a:r>
              <a:rPr sz="2400" dirty="0">
                <a:latin typeface="ui-sans-serif"/>
              </a:rPr>
              <a:t>• Actor/Actress Role Mapping</a:t>
            </a:r>
          </a:p>
          <a:p>
            <a:r>
              <a:rPr sz="2400" dirty="0">
                <a:latin typeface="ui-sans-serif"/>
              </a:rPr>
              <a:t>• People info including name, birthdate, height, known movies</a:t>
            </a:r>
          </a:p>
          <a:p>
            <a:r>
              <a:rPr sz="2400" dirty="0">
                <a:latin typeface="ui-sans-serif"/>
              </a:rPr>
              <a:t>• Ratings: average, median, total</a:t>
            </a:r>
            <a:r>
              <a:rPr sz="2800" dirty="0">
                <a:latin typeface="ui-sans-serif"/>
              </a:rPr>
              <a:t> votes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0611" y="279902"/>
            <a:ext cx="6251303" cy="1049235"/>
          </a:xfrm>
        </p:spPr>
        <p:txBody>
          <a:bodyPr/>
          <a:lstStyle/>
          <a:p>
            <a:r>
              <a:rPr dirty="0">
                <a:latin typeface="ui-sans-serif"/>
              </a:rPr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46348" y="1329137"/>
            <a:ext cx="6251303" cy="3450613"/>
          </a:xfrm>
        </p:spPr>
        <p:txBody>
          <a:bodyPr>
            <a:normAutofit/>
          </a:bodyPr>
          <a:lstStyle/>
          <a:p>
            <a:r>
              <a:rPr sz="2800" dirty="0">
                <a:latin typeface="ui-sans-serif"/>
              </a:rPr>
              <a:t>• Reinforce key SQL concepts: joins, aggregation, filtering, grouping</a:t>
            </a:r>
          </a:p>
          <a:p>
            <a:r>
              <a:rPr sz="2800" dirty="0">
                <a:latin typeface="ui-sans-serif"/>
              </a:rPr>
              <a:t>• Extract meaningful insights from a movie dataset</a:t>
            </a:r>
          </a:p>
          <a:p>
            <a:r>
              <a:rPr sz="2800" dirty="0">
                <a:latin typeface="ui-sans-serif"/>
              </a:rPr>
              <a:t>• Present findings clearly with SQL code, screenshots, and presentation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25000">
              <a:schemeClr val="bg1">
                <a:tint val="94000"/>
                <a:satMod val="80000"/>
                <a:lumMod val="106000"/>
              </a:schemeClr>
            </a:gs>
            <a:gs pos="100000">
              <a:schemeClr val="bg1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3EBE0072-A136-C43B-A15A-49148A404D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565" y="3398826"/>
            <a:ext cx="4637606" cy="245333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14F0F7D-EC70-8066-193A-360C69C67C4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25344"/>
          <a:stretch/>
        </p:blipFill>
        <p:spPr>
          <a:xfrm>
            <a:off x="4952171" y="38736"/>
            <a:ext cx="1878024" cy="250221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3444F19-D0FC-4E38-3D97-DD951E619B9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32280"/>
          <a:stretch/>
        </p:blipFill>
        <p:spPr>
          <a:xfrm>
            <a:off x="7091627" y="38736"/>
            <a:ext cx="1878024" cy="2500299"/>
          </a:xfrm>
          <a:prstGeom prst="rect">
            <a:avLst/>
          </a:prstGeom>
        </p:spPr>
      </p:pic>
      <p:pic>
        <p:nvPicPr>
          <p:cNvPr id="11" name="Content Placeholder 6">
            <a:extLst>
              <a:ext uri="{FF2B5EF4-FFF2-40B4-BE49-F238E27FC236}">
                <a16:creationId xmlns:a16="http://schemas.microsoft.com/office/drawing/2014/main" id="{85CB04EE-47A9-BBC8-C9AA-8B0A78884F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/>
          <a:stretch>
            <a:fillRect/>
          </a:stretch>
        </p:blipFill>
        <p:spPr>
          <a:xfrm>
            <a:off x="28563" y="0"/>
            <a:ext cx="1878024" cy="245333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D4F335E-F0DF-39F0-AA98-35471193D30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92590" y="1"/>
            <a:ext cx="2473578" cy="253903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A21AFEF-DF40-DCDD-4BA4-68E91C1FA55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66360" y="3373505"/>
            <a:ext cx="3803291" cy="2478655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112FE366-FB1A-67DB-7E65-5C1ADF5F22A3}"/>
              </a:ext>
            </a:extLst>
          </p:cNvPr>
          <p:cNvSpPr/>
          <p:nvPr/>
        </p:nvSpPr>
        <p:spPr>
          <a:xfrm>
            <a:off x="2361610" y="2500617"/>
            <a:ext cx="136538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2000" dirty="0">
                <a:latin typeface="Arial Black" panose="020B0A04020102020204" pitchFamily="34" charset="0"/>
              </a:rPr>
              <a:t>Ratings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D614EF4-3718-4055-EF51-3708B782913A}"/>
              </a:ext>
            </a:extLst>
          </p:cNvPr>
          <p:cNvSpPr/>
          <p:nvPr/>
        </p:nvSpPr>
        <p:spPr>
          <a:xfrm>
            <a:off x="6819128" y="6066024"/>
            <a:ext cx="127519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2000" dirty="0">
                <a:latin typeface="Arial Black" panose="020B0A04020102020204" pitchFamily="34" charset="0"/>
              </a:rPr>
              <a:t>Names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22D4FD4-8E4C-7DFC-D1DE-5B17C62B8287}"/>
              </a:ext>
            </a:extLst>
          </p:cNvPr>
          <p:cNvSpPr/>
          <p:nvPr/>
        </p:nvSpPr>
        <p:spPr>
          <a:xfrm>
            <a:off x="-140459" y="2513309"/>
            <a:ext cx="221606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2000" dirty="0" err="1">
                <a:latin typeface="Arial Black" panose="020B0A04020102020204" pitchFamily="34" charset="0"/>
              </a:rPr>
              <a:t>Role_Maping</a:t>
            </a:r>
            <a:endParaRPr lang="en-IN" sz="2000" dirty="0">
              <a:latin typeface="Arial Black" panose="020B0A0402010202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E7F784A-42B6-EB0D-F7F7-433F9C44B77D}"/>
              </a:ext>
            </a:extLst>
          </p:cNvPr>
          <p:cNvSpPr/>
          <p:nvPr/>
        </p:nvSpPr>
        <p:spPr>
          <a:xfrm>
            <a:off x="4532377" y="2555201"/>
            <a:ext cx="271761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2000" dirty="0">
                <a:latin typeface="Arial Black" panose="020B0A04020102020204" pitchFamily="34" charset="0"/>
              </a:rPr>
              <a:t>Director Mapping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BDCE7AF-6533-241F-29A4-4E0688947483}"/>
              </a:ext>
            </a:extLst>
          </p:cNvPr>
          <p:cNvSpPr/>
          <p:nvPr/>
        </p:nvSpPr>
        <p:spPr>
          <a:xfrm>
            <a:off x="7459418" y="2559476"/>
            <a:ext cx="128453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2000" dirty="0">
                <a:latin typeface="Arial Black" panose="020B0A04020102020204" pitchFamily="34" charset="0"/>
              </a:rPr>
              <a:t>Genre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F429480-4F20-4D49-72FB-E7A5E4BCA731}"/>
              </a:ext>
            </a:extLst>
          </p:cNvPr>
          <p:cNvSpPr/>
          <p:nvPr/>
        </p:nvSpPr>
        <p:spPr>
          <a:xfrm>
            <a:off x="1559446" y="6075452"/>
            <a:ext cx="127519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2000" dirty="0">
                <a:latin typeface="Arial Black" panose="020B0A04020102020204" pitchFamily="34" charset="0"/>
              </a:rPr>
              <a:t>Movie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E04650D-6567-717F-8B80-CC9AED8A07DB}"/>
              </a:ext>
            </a:extLst>
          </p:cNvPr>
          <p:cNvSpPr txBox="1"/>
          <p:nvPr/>
        </p:nvSpPr>
        <p:spPr>
          <a:xfrm>
            <a:off x="1032164" y="272580"/>
            <a:ext cx="81118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ui-sans-serif"/>
              </a:rPr>
              <a:t>Count the total number of records in each table of the database</a:t>
            </a:r>
            <a:r>
              <a:rPr lang="en-US" dirty="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64D6E1A-DB16-E218-13BA-2F545033D1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26" y="1021324"/>
            <a:ext cx="9003147" cy="347678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0C1D97CA-2392-A23B-D5E8-A03F0F3540B8}"/>
              </a:ext>
            </a:extLst>
          </p:cNvPr>
          <p:cNvSpPr txBox="1"/>
          <p:nvPr/>
        </p:nvSpPr>
        <p:spPr>
          <a:xfrm>
            <a:off x="-315456" y="161789"/>
            <a:ext cx="97827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released in March 2017 in the USA within a specific genre, had more than 1,000 votes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CF6B6A4-729A-FB9B-752D-B5219F5B07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9525" y="4447997"/>
            <a:ext cx="5858693" cy="2248214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088D9551-815D-C44A-5187-16F13BA82FC1}"/>
              </a:ext>
            </a:extLst>
          </p:cNvPr>
          <p:cNvSpPr txBox="1"/>
          <p:nvPr/>
        </p:nvSpPr>
        <p:spPr>
          <a:xfrm>
            <a:off x="207819" y="3763711"/>
            <a:ext cx="92594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How many movies were produced in either the USA or India in the year 2019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C17613-FC80-C683-A14E-B826AF52B9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011" y="765980"/>
            <a:ext cx="6820852" cy="292458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D7255E1-5B7F-1A1A-2448-6DDB3EC4A0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90" y="872775"/>
            <a:ext cx="8945420" cy="275121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B8E6B83-7164-5467-5EF3-D4120BB7CB5F}"/>
              </a:ext>
            </a:extLst>
          </p:cNvPr>
          <p:cNvSpPr txBox="1"/>
          <p:nvPr/>
        </p:nvSpPr>
        <p:spPr>
          <a:xfrm>
            <a:off x="99291" y="226444"/>
            <a:ext cx="89246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List the unique genres in the dataset, and count how many movies belong exclusively to one genre.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9D14A7A-FAB1-FF76-3A8E-90054879ECA9}"/>
              </a:ext>
            </a:extLst>
          </p:cNvPr>
          <p:cNvSpPr txBox="1"/>
          <p:nvPr/>
        </p:nvSpPr>
        <p:spPr>
          <a:xfrm>
            <a:off x="-1" y="3817155"/>
            <a:ext cx="89246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Which genre has the highest total number of movies produced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BC57EE1-CB4F-1579-BC1E-DF068B7165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90" y="4186487"/>
            <a:ext cx="8945419" cy="261021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3AF453F-64FC-67A8-6B73-1FDF313FD7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25427"/>
            <a:ext cx="9245600" cy="249362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84F92FF-D84A-2B8B-19C0-D5EADB85A003}"/>
              </a:ext>
            </a:extLst>
          </p:cNvPr>
          <p:cNvSpPr txBox="1"/>
          <p:nvPr/>
        </p:nvSpPr>
        <p:spPr>
          <a:xfrm>
            <a:off x="0" y="102097"/>
            <a:ext cx="9144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Find the minimum and maximum values for each column in the ratings table, excluding the </a:t>
            </a:r>
            <a:r>
              <a:rPr lang="en-US" dirty="0" err="1"/>
              <a:t>movie_id</a:t>
            </a:r>
            <a:r>
              <a:rPr lang="en-US" dirty="0"/>
              <a:t> column.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123C960-CC1A-CCC4-7CB2-167950D265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09" y="4454954"/>
            <a:ext cx="8986982" cy="230094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8FEACC1-A18C-5B22-C0F3-F23EBF831393}"/>
              </a:ext>
            </a:extLst>
          </p:cNvPr>
          <p:cNvSpPr txBox="1"/>
          <p:nvPr/>
        </p:nvSpPr>
        <p:spPr>
          <a:xfrm>
            <a:off x="0" y="3687037"/>
            <a:ext cx="89869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Which are the top 10 movies based on their average rating.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94767E1-7958-719B-081B-DCD6E038E6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963" y="762878"/>
            <a:ext cx="5508935" cy="240805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FAEE9FD-F527-DAA1-F2C9-AD6A4CFF5FFF}"/>
              </a:ext>
            </a:extLst>
          </p:cNvPr>
          <p:cNvSpPr txBox="1"/>
          <p:nvPr/>
        </p:nvSpPr>
        <p:spPr>
          <a:xfrm>
            <a:off x="228600" y="263344"/>
            <a:ext cx="87029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Summarize the ratings table by grouping movies based on their median ratings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1827A95-BC2E-9F69-9743-9FCEB78E9E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3834954"/>
            <a:ext cx="6853382" cy="275970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69F20A4-C5FA-6D54-C6A3-247F11EE74A3}"/>
              </a:ext>
            </a:extLst>
          </p:cNvPr>
          <p:cNvSpPr txBox="1"/>
          <p:nvPr/>
        </p:nvSpPr>
        <p:spPr>
          <a:xfrm>
            <a:off x="-105063" y="3355602"/>
            <a:ext cx="89281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Determine the total number of votes for each movie released in 2018</a:t>
            </a:r>
          </a:p>
        </p:txBody>
      </p:sp>
    </p:spTree>
    <p:extLst>
      <p:ext uri="{BB962C8B-B14F-4D97-AF65-F5344CB8AC3E}">
        <p14:creationId xmlns:p14="http://schemas.microsoft.com/office/powerpoint/2010/main" val="34798528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E5B11E5-DB6C-F142-035C-91C547108B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3307" y="632676"/>
            <a:ext cx="5496692" cy="255305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50CFEC4-B6B7-F830-2AB6-09B31846E405}"/>
              </a:ext>
            </a:extLst>
          </p:cNvPr>
          <p:cNvSpPr txBox="1"/>
          <p:nvPr/>
        </p:nvSpPr>
        <p:spPr>
          <a:xfrm>
            <a:off x="330200" y="263344"/>
            <a:ext cx="83150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What is the most common language in which movies were produced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66AC493-1E1B-ED90-306D-F928AF41E6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938" y="4095544"/>
            <a:ext cx="6125430" cy="266547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5282412-798A-C70E-6064-BD1903E4FDAC}"/>
              </a:ext>
            </a:extLst>
          </p:cNvPr>
          <p:cNvSpPr txBox="1"/>
          <p:nvPr/>
        </p:nvSpPr>
        <p:spPr>
          <a:xfrm>
            <a:off x="-1" y="3250762"/>
            <a:ext cx="904240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Of the movies released between April 1, 2018, and April 1, 2019, how many received a median rating of 8</a:t>
            </a:r>
          </a:p>
        </p:txBody>
      </p:sp>
    </p:spTree>
    <p:extLst>
      <p:ext uri="{BB962C8B-B14F-4D97-AF65-F5344CB8AC3E}">
        <p14:creationId xmlns:p14="http://schemas.microsoft.com/office/powerpoint/2010/main" val="10564398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1249528" y="730933"/>
            <a:ext cx="6251303" cy="1049235"/>
          </a:xfrm>
          <a:prstGeom prst="rect">
            <a:avLst/>
          </a:prstGeom>
        </p:spPr>
        <p:txBody>
          <a:bodyPr/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accent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Conclusion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A41D41AA-9EC4-FF68-5906-02D2ACC979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8983" y="1632131"/>
            <a:ext cx="7652616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None/>
            </a:pPr>
            <a:r>
              <a:rPr lang="en-US" b="1" dirty="0">
                <a:latin typeface="ui-sans-serif"/>
              </a:rPr>
              <a:t>Genre Popularity</a:t>
            </a:r>
            <a:br>
              <a:rPr lang="en-US" dirty="0">
                <a:latin typeface="ui-sans-serif"/>
              </a:rPr>
            </a:br>
            <a:r>
              <a:rPr lang="en-US" dirty="0">
                <a:latin typeface="ui-sans-serif"/>
              </a:rPr>
              <a:t>Drama, Comedy, and Action stood out as the most frequently featured genres, underscoring their lasting popularity with audiences.</a:t>
            </a:r>
          </a:p>
          <a:p>
            <a:pPr>
              <a:buNone/>
            </a:pPr>
            <a:endParaRPr lang="en-US" b="1" dirty="0">
              <a:latin typeface="ui-sans-serif"/>
            </a:endParaRPr>
          </a:p>
          <a:p>
            <a:pPr>
              <a:buNone/>
            </a:pPr>
            <a:endParaRPr lang="en-US" b="1" dirty="0">
              <a:latin typeface="ui-sans-serif"/>
            </a:endParaRPr>
          </a:p>
          <a:p>
            <a:pPr>
              <a:buNone/>
            </a:pPr>
            <a:r>
              <a:rPr lang="en-US" b="1" dirty="0">
                <a:latin typeface="ui-sans-serif"/>
              </a:rPr>
              <a:t>Highly Rated Films</a:t>
            </a:r>
            <a:br>
              <a:rPr lang="en-US" dirty="0">
                <a:latin typeface="ui-sans-serif"/>
              </a:rPr>
            </a:br>
            <a:r>
              <a:rPr lang="en-US" dirty="0">
                <a:latin typeface="ui-sans-serif"/>
              </a:rPr>
              <a:t>A number of movies earned average ratings exceeding 8.5, demonstrating widespread praise from both critics and viewers.</a:t>
            </a:r>
          </a:p>
          <a:p>
            <a:endParaRPr lang="en-US" b="1" dirty="0">
              <a:latin typeface="ui-sans-serif"/>
            </a:endParaRPr>
          </a:p>
          <a:p>
            <a:endParaRPr lang="en-US" b="1" dirty="0">
              <a:latin typeface="ui-sans-serif"/>
            </a:endParaRPr>
          </a:p>
          <a:p>
            <a:r>
              <a:rPr lang="en-US" b="1" dirty="0">
                <a:latin typeface="ui-sans-serif"/>
              </a:rPr>
              <a:t>Consistently Active Directors</a:t>
            </a:r>
            <a:br>
              <a:rPr lang="en-US" dirty="0">
                <a:latin typeface="ui-sans-serif"/>
              </a:rPr>
            </a:br>
            <a:r>
              <a:rPr lang="en-US" dirty="0">
                <a:latin typeface="ui-sans-serif"/>
              </a:rPr>
              <a:t>Multiple directors appeared repeatedly in the dataset, indicating a history of continuous creative work and industry acknowledgment.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33287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C4331BE-E9BF-4E46-E6FC-FB210EC393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06" y="678873"/>
            <a:ext cx="9089587" cy="6179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09981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erson in a suit&#10;&#10;AI-generated content may be incorrect.">
            <a:extLst>
              <a:ext uri="{FF2B5EF4-FFF2-40B4-BE49-F238E27FC236}">
                <a16:creationId xmlns:a16="http://schemas.microsoft.com/office/drawing/2014/main" id="{D51878CD-FA02-A8F8-90EF-BE799EB9F8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816" y="346508"/>
            <a:ext cx="8826368" cy="6395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16150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AA2235C-1176-5517-0C66-C139F9878D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45" y="1047878"/>
            <a:ext cx="9079345" cy="208369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2C9D578-5575-9413-0709-B55E7924AFBE}"/>
              </a:ext>
            </a:extLst>
          </p:cNvPr>
          <p:cNvSpPr txBox="1"/>
          <p:nvPr/>
        </p:nvSpPr>
        <p:spPr>
          <a:xfrm>
            <a:off x="401781" y="485017"/>
            <a:ext cx="76892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Identify which columns in the movie table contain null values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5B21179-5F49-91A6-DB2E-9B7B3956F3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45" y="4097556"/>
            <a:ext cx="9042400" cy="264498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19ACCBA-E586-095F-2453-AD9C72A086F1}"/>
              </a:ext>
            </a:extLst>
          </p:cNvPr>
          <p:cNvSpPr txBox="1"/>
          <p:nvPr/>
        </p:nvSpPr>
        <p:spPr>
          <a:xfrm>
            <a:off x="108526" y="3325106"/>
            <a:ext cx="88876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Calculate the average movie duration for each genre</a:t>
            </a:r>
          </a:p>
        </p:txBody>
      </p:sp>
    </p:spTree>
    <p:extLst>
      <p:ext uri="{BB962C8B-B14F-4D97-AF65-F5344CB8AC3E}">
        <p14:creationId xmlns:p14="http://schemas.microsoft.com/office/powerpoint/2010/main" val="15308619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662728A-6675-BA4C-9760-9B9927F7F36F}"/>
              </a:ext>
            </a:extLst>
          </p:cNvPr>
          <p:cNvSpPr txBox="1"/>
          <p:nvPr/>
        </p:nvSpPr>
        <p:spPr>
          <a:xfrm>
            <a:off x="215899" y="374226"/>
            <a:ext cx="871220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Identify actors or actresses who have appeared in more than three movies with an average rating below 5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3074F1-E45B-096E-DD5A-BD7ECCA366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9280" y="1020558"/>
            <a:ext cx="6229338" cy="2766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06235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658AE23-686A-0BEE-4D0E-770DE7F01B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653" y="1396623"/>
            <a:ext cx="6582694" cy="336279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5C18A8E-7D4D-E0FE-3B37-3737383A1387}"/>
              </a:ext>
            </a:extLst>
          </p:cNvPr>
          <p:cNvSpPr txBox="1"/>
          <p:nvPr/>
        </p:nvSpPr>
        <p:spPr>
          <a:xfrm>
            <a:off x="293254" y="475825"/>
            <a:ext cx="874914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How many movies, released in March 2017 in the USA within a specific genre, had more than 1,000 votes</a:t>
            </a:r>
          </a:p>
        </p:txBody>
      </p:sp>
    </p:spTree>
    <p:extLst>
      <p:ext uri="{BB962C8B-B14F-4D97-AF65-F5344CB8AC3E}">
        <p14:creationId xmlns:p14="http://schemas.microsoft.com/office/powerpoint/2010/main" val="25425590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8020D570-379A-3ADC-9CE5-298CD72901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899" y="1166091"/>
            <a:ext cx="8712201" cy="383078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B53E452-957A-6C9B-B5D5-F61364E624AD}"/>
              </a:ext>
            </a:extLst>
          </p:cNvPr>
          <p:cNvSpPr txBox="1"/>
          <p:nvPr/>
        </p:nvSpPr>
        <p:spPr>
          <a:xfrm>
            <a:off x="145472" y="438880"/>
            <a:ext cx="890616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Find movies from each genre that begin with the word “The” and have an average rating greater than 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A8285B2-7D23-0293-01A5-DEBB0F40F8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8109" y="826396"/>
            <a:ext cx="6507782" cy="269523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5C7DFA7-666E-BCFC-D994-07BFB14905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6181" y="4512307"/>
            <a:ext cx="4391638" cy="208626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A271D73-4D9E-FC0E-C72A-9D7E40E9E1CA}"/>
              </a:ext>
            </a:extLst>
          </p:cNvPr>
          <p:cNvSpPr txBox="1"/>
          <p:nvPr/>
        </p:nvSpPr>
        <p:spPr>
          <a:xfrm>
            <a:off x="256309" y="174574"/>
            <a:ext cx="875838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the movies released between April 1, 2018, and April 1, 2019, how many received a median rating of 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EECD11-5FAF-122D-BBA7-0303ABD5A6CF}"/>
              </a:ext>
            </a:extLst>
          </p:cNvPr>
          <p:cNvSpPr txBox="1"/>
          <p:nvPr/>
        </p:nvSpPr>
        <p:spPr>
          <a:xfrm>
            <a:off x="413327" y="3897852"/>
            <a:ext cx="87583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Do German movies receive more votes on average than Italian movies</a:t>
            </a:r>
          </a:p>
        </p:txBody>
      </p:sp>
    </p:spTree>
    <p:extLst>
      <p:ext uri="{BB962C8B-B14F-4D97-AF65-F5344CB8AC3E}">
        <p14:creationId xmlns:p14="http://schemas.microsoft.com/office/powerpoint/2010/main" val="13436684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A384F69-F3AC-3482-3F65-6E906C1F0F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536" y="1015183"/>
            <a:ext cx="8716591" cy="187668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AB93F38-77AC-E0D5-08D7-B4283432ECD4}"/>
              </a:ext>
            </a:extLst>
          </p:cNvPr>
          <p:cNvSpPr txBox="1"/>
          <p:nvPr/>
        </p:nvSpPr>
        <p:spPr>
          <a:xfrm>
            <a:off x="598053" y="448070"/>
            <a:ext cx="83230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the columns in the names table that contain null values.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53287F8-3175-F68E-FF63-607EB52540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814" y="4105843"/>
            <a:ext cx="8810222" cy="52076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BB9C721-4C5C-8985-DB16-9057AD3384DE}"/>
              </a:ext>
            </a:extLst>
          </p:cNvPr>
          <p:cNvSpPr txBox="1"/>
          <p:nvPr/>
        </p:nvSpPr>
        <p:spPr>
          <a:xfrm>
            <a:off x="0" y="3234554"/>
            <a:ext cx="91178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 Which are the top three production companies based on the total number of votes their movies received?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3C42170-5CDB-3E97-735B-14AC0FD78C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1523" y="5299161"/>
            <a:ext cx="6716062" cy="144800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DF41ABA-D293-0522-547D-C7B3371ACCB1}"/>
              </a:ext>
            </a:extLst>
          </p:cNvPr>
          <p:cNvSpPr txBox="1"/>
          <p:nvPr/>
        </p:nvSpPr>
        <p:spPr>
          <a:xfrm>
            <a:off x="1213872" y="4666899"/>
            <a:ext cx="70913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How many directors have worked on more than three movies</a:t>
            </a:r>
          </a:p>
        </p:txBody>
      </p:sp>
    </p:spTree>
    <p:extLst>
      <p:ext uri="{BB962C8B-B14F-4D97-AF65-F5344CB8AC3E}">
        <p14:creationId xmlns:p14="http://schemas.microsoft.com/office/powerpoint/2010/main" val="24061783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BA8FB61-177B-89C5-1D6E-90E996A51B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075" y="984260"/>
            <a:ext cx="5553850" cy="138025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24B8ACE-626F-0274-3CF6-5EBF5991F95E}"/>
              </a:ext>
            </a:extLst>
          </p:cNvPr>
          <p:cNvSpPr txBox="1"/>
          <p:nvPr/>
        </p:nvSpPr>
        <p:spPr>
          <a:xfrm>
            <a:off x="949036" y="272580"/>
            <a:ext cx="7086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Calculate the average height of actors and actresses separately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7B86A27-4803-8B6D-31DF-BE3DA4EA8C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5076" y="3429000"/>
            <a:ext cx="5553850" cy="163252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D60DEF9-3414-15EA-5FDB-566DAFE65BC1}"/>
              </a:ext>
            </a:extLst>
          </p:cNvPr>
          <p:cNvSpPr txBox="1"/>
          <p:nvPr/>
        </p:nvSpPr>
        <p:spPr>
          <a:xfrm>
            <a:off x="949036" y="2693111"/>
            <a:ext cx="7086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List the 10 oldest movies in the dataset along with their title, country, and director</a:t>
            </a:r>
          </a:p>
        </p:txBody>
      </p:sp>
    </p:spTree>
    <p:extLst>
      <p:ext uri="{BB962C8B-B14F-4D97-AF65-F5344CB8AC3E}">
        <p14:creationId xmlns:p14="http://schemas.microsoft.com/office/powerpoint/2010/main" val="1331333342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9D5"/>
      </a:lt2>
      <a:accent1>
        <a:srgbClr val="FB8C29"/>
      </a:accent1>
      <a:accent2>
        <a:srgbClr val="F2C351"/>
      </a:accent2>
      <a:accent3>
        <a:srgbClr val="D0CBA5"/>
      </a:accent3>
      <a:accent4>
        <a:srgbClr val="A2C476"/>
      </a:accent4>
      <a:accent5>
        <a:srgbClr val="57C293"/>
      </a:accent5>
      <a:accent6>
        <a:srgbClr val="43BFDE"/>
      </a:accent6>
      <a:hlink>
        <a:srgbClr val="FBAE29"/>
      </a:hlink>
      <a:folHlink>
        <a:srgbClr val="EDC47E"/>
      </a:folHlink>
    </a:clrScheme>
    <a:fontScheme name="Gallery">
      <a:majorFont>
        <a:latin typeface="Rockwell" panose="020606030202050204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BB5F5D82-B5E9-469E-A815-C655ED4AF24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459</TotalTime>
  <Words>534</Words>
  <Application>Microsoft Office PowerPoint</Application>
  <PresentationFormat>On-screen Show (4:3)</PresentationFormat>
  <Paragraphs>52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Arial Black</vt:lpstr>
      <vt:lpstr>Rockwell</vt:lpstr>
      <vt:lpstr>ui-sans-serif</vt:lpstr>
      <vt:lpstr>Gallery</vt:lpstr>
      <vt:lpstr>Advanced SQL – IMDB Dataset Analysis</vt:lpstr>
      <vt:lpstr>Introduction to Dataset</vt:lpstr>
      <vt:lpstr>Project Objective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Gowthaman Gowthaman.s</cp:lastModifiedBy>
  <cp:revision>25</cp:revision>
  <dcterms:created xsi:type="dcterms:W3CDTF">2013-01-27T09:14:16Z</dcterms:created>
  <dcterms:modified xsi:type="dcterms:W3CDTF">2025-05-30T09:08:44Z</dcterms:modified>
  <cp:category/>
</cp:coreProperties>
</file>